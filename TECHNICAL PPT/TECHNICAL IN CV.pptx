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0"/>
  </p:notesMasterIdLst>
  <p:sldIdLst>
    <p:sldId id="256" r:id="rId2"/>
    <p:sldId id="257" r:id="rId3"/>
    <p:sldId id="266" r:id="rId4"/>
    <p:sldId id="260" r:id="rId5"/>
    <p:sldId id="261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79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E3D22C-44EB-4DBA-A925-5E86867A243F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AE90D8-7B13-4653-A21E-E78A4DD13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13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E90D8-7B13-4653-A21E-E78A4DD139A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94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41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60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1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97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84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21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0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6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79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76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6895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31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7592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200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50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3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103E2-6C46-48E7-89BF-190CD4D1ACE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9663C65-C64B-4887-B61B-B2617A590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52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B186-68C5-6522-0405-FD21A2180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88729" y="1160865"/>
            <a:ext cx="7766936" cy="1646302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ITA0521-Computer Vision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627D2-E66E-5F03-FDA2-23AB0EE46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5091" y="3236185"/>
            <a:ext cx="7766936" cy="109689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in Agriculture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E1EB16-FF14-0CF1-0195-FF1E79B5E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472" y="530797"/>
            <a:ext cx="8062175" cy="10505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A5261D-1812-ED40-33D9-44C0014B5D81}"/>
              </a:ext>
            </a:extLst>
          </p:cNvPr>
          <p:cNvSpPr txBox="1"/>
          <p:nvPr/>
        </p:nvSpPr>
        <p:spPr>
          <a:xfrm>
            <a:off x="6226233" y="5003000"/>
            <a:ext cx="620129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Presented By:</a:t>
            </a:r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NEELAKANDAMOORTHY.C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(192421063)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8A6622-AF9D-F422-6392-5C0F0F92CC96}"/>
              </a:ext>
            </a:extLst>
          </p:cNvPr>
          <p:cNvSpPr txBox="1"/>
          <p:nvPr/>
        </p:nvSpPr>
        <p:spPr>
          <a:xfrm>
            <a:off x="544216" y="5141610"/>
            <a:ext cx="6301046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Guided by:</a:t>
            </a:r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DR.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 M USHA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016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DB39E-9507-E721-4B15-2D870B0E2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3FC08-4B87-1E87-50E9-FF3CFD483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174" y="2160589"/>
            <a:ext cx="7236323" cy="4240211"/>
          </a:xfrm>
        </p:spPr>
        <p:txBody>
          <a:bodyPr>
            <a:normAutofit lnSpcReduction="10000"/>
          </a:bodyPr>
          <a:lstStyle/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important for food production and the economy.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need to identify plant diseases, weeds, and crop problems early.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allows computers to understand images and videos.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cameras and AI to examine crops and help farmers make decisions.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support faster, more accurate, and more efficient farming.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473CD0-016D-F1B5-A609-F812ED797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497" y="1526457"/>
            <a:ext cx="3865169" cy="435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82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F367-7D9F-0F0B-14AF-9806D651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WORK?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8C6-A4A9-A682-A7F3-5A887347D8B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245807" y="7132320"/>
            <a:ext cx="303708" cy="120376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B91ACB11-2467-2987-8C6D-5D30547F61A2}"/>
              </a:ext>
            </a:extLst>
          </p:cNvPr>
          <p:cNvSpPr/>
          <p:nvPr/>
        </p:nvSpPr>
        <p:spPr>
          <a:xfrm>
            <a:off x="10881360" y="-182880"/>
            <a:ext cx="1554480" cy="7315200"/>
          </a:xfrm>
          <a:prstGeom prst="parallelogram">
            <a:avLst/>
          </a:prstGeom>
          <a:solidFill>
            <a:srgbClr val="FADC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470966F5-F83C-36CE-6539-D97C8BB81F8B}"/>
              </a:ext>
            </a:extLst>
          </p:cNvPr>
          <p:cNvSpPr/>
          <p:nvPr/>
        </p:nvSpPr>
        <p:spPr>
          <a:xfrm>
            <a:off x="11430000" y="-182880"/>
            <a:ext cx="1097280" cy="7315200"/>
          </a:xfrm>
          <a:prstGeom prst="parallelogram">
            <a:avLst/>
          </a:prstGeom>
          <a:solidFill>
            <a:srgbClr val="DC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CBDB7BD4-AD54-9036-B717-665046CB5C14}"/>
              </a:ext>
            </a:extLst>
          </p:cNvPr>
          <p:cNvSpPr/>
          <p:nvPr/>
        </p:nvSpPr>
        <p:spPr>
          <a:xfrm>
            <a:off x="669798" y="4282408"/>
            <a:ext cx="2363724" cy="1554480"/>
          </a:xfrm>
          <a:prstGeom prst="roundRect">
            <a:avLst/>
          </a:prstGeom>
          <a:solidFill>
            <a:srgbClr val="FFF4FA"/>
          </a:solidFill>
          <a:ln>
            <a:solidFill>
              <a:srgbClr val="DC4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A91E77-147C-6010-A97A-A81E6E946B9C}"/>
              </a:ext>
            </a:extLst>
          </p:cNvPr>
          <p:cNvSpPr txBox="1"/>
          <p:nvPr/>
        </p:nvSpPr>
        <p:spPr>
          <a:xfrm>
            <a:off x="914400" y="4392136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200" b="1">
                <a:solidFill>
                  <a:srgbClr val="DC469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CF9ED9-79F1-668D-BD9A-C784F2CDFBA7}"/>
              </a:ext>
            </a:extLst>
          </p:cNvPr>
          <p:cNvSpPr txBox="1"/>
          <p:nvPr/>
        </p:nvSpPr>
        <p:spPr>
          <a:xfrm>
            <a:off x="914400" y="4812760"/>
            <a:ext cx="187452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2D2830"/>
                </a:solidFill>
                <a:latin typeface="Aptos"/>
              </a:defRPr>
            </a:pPr>
            <a:r>
              <a:t>Capture Image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63606E-2BE4-B109-2F2D-1A0EB602B0C1}"/>
              </a:ext>
            </a:extLst>
          </p:cNvPr>
          <p:cNvSpPr txBox="1"/>
          <p:nvPr/>
        </p:nvSpPr>
        <p:spPr>
          <a:xfrm>
            <a:off x="914400" y="5269960"/>
            <a:ext cx="18745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646067"/>
                </a:solidFill>
                <a:latin typeface="Aptos"/>
              </a:defRPr>
            </a:pPr>
            <a:r>
              <a:t>Phone, camera, drone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2AB378-64DE-7B3C-84C4-ED2AAA4BC86E}"/>
              </a:ext>
            </a:extLst>
          </p:cNvPr>
          <p:cNvSpPr txBox="1"/>
          <p:nvPr/>
        </p:nvSpPr>
        <p:spPr>
          <a:xfrm>
            <a:off x="2944368" y="4785328"/>
            <a:ext cx="365759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400" b="1">
                <a:solidFill>
                  <a:srgbClr val="DC46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0CDA74C7-B222-01DB-85F0-270169FD65E5}"/>
              </a:ext>
            </a:extLst>
          </p:cNvPr>
          <p:cNvSpPr/>
          <p:nvPr/>
        </p:nvSpPr>
        <p:spPr>
          <a:xfrm>
            <a:off x="3278124" y="4282408"/>
            <a:ext cx="2148840" cy="1554480"/>
          </a:xfrm>
          <a:prstGeom prst="roundRect">
            <a:avLst/>
          </a:prstGeom>
          <a:solidFill>
            <a:srgbClr val="FADCED"/>
          </a:solidFill>
          <a:ln>
            <a:solidFill>
              <a:srgbClr val="DC4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81392C-2B26-8157-0A26-0ACB4923843F}"/>
              </a:ext>
            </a:extLst>
          </p:cNvPr>
          <p:cNvSpPr txBox="1"/>
          <p:nvPr/>
        </p:nvSpPr>
        <p:spPr>
          <a:xfrm>
            <a:off x="3383280" y="4392136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200" b="1">
                <a:solidFill>
                  <a:srgbClr val="DC469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97ACDC-D770-8DE3-FFC8-9D2705B0EEA6}"/>
              </a:ext>
            </a:extLst>
          </p:cNvPr>
          <p:cNvSpPr txBox="1"/>
          <p:nvPr/>
        </p:nvSpPr>
        <p:spPr>
          <a:xfrm>
            <a:off x="3383280" y="4812760"/>
            <a:ext cx="187452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2D2830"/>
                </a:solidFill>
                <a:latin typeface="Aptos"/>
              </a:defRPr>
            </a:pPr>
            <a:r>
              <a:t>Process Image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BEDFC9-C30E-026D-B4C3-E743B71BF2F8}"/>
              </a:ext>
            </a:extLst>
          </p:cNvPr>
          <p:cNvSpPr txBox="1"/>
          <p:nvPr/>
        </p:nvSpPr>
        <p:spPr>
          <a:xfrm>
            <a:off x="3383280" y="5269960"/>
            <a:ext cx="18745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646067"/>
                </a:solidFill>
                <a:latin typeface="Aptos"/>
              </a:defRPr>
            </a:pPr>
            <a:r>
              <a:t>Clean and resize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17B50-8DAC-6120-56BA-16F189170480}"/>
              </a:ext>
            </a:extLst>
          </p:cNvPr>
          <p:cNvSpPr txBox="1"/>
          <p:nvPr/>
        </p:nvSpPr>
        <p:spPr>
          <a:xfrm>
            <a:off x="5413248" y="4785328"/>
            <a:ext cx="365759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400" b="1">
                <a:solidFill>
                  <a:srgbClr val="DC46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A9B810F5-D7FC-5BFF-0C9A-E3459B0BC729}"/>
              </a:ext>
            </a:extLst>
          </p:cNvPr>
          <p:cNvSpPr/>
          <p:nvPr/>
        </p:nvSpPr>
        <p:spPr>
          <a:xfrm>
            <a:off x="5733287" y="4392136"/>
            <a:ext cx="2148840" cy="1554480"/>
          </a:xfrm>
          <a:prstGeom prst="roundRect">
            <a:avLst/>
          </a:prstGeom>
          <a:solidFill>
            <a:srgbClr val="FFF4FA"/>
          </a:solidFill>
          <a:ln>
            <a:solidFill>
              <a:srgbClr val="DC4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B12DB4-DB6D-2B5B-3DA7-8F1D8032FEEE}"/>
              </a:ext>
            </a:extLst>
          </p:cNvPr>
          <p:cNvSpPr txBox="1"/>
          <p:nvPr/>
        </p:nvSpPr>
        <p:spPr>
          <a:xfrm>
            <a:off x="5852160" y="4392136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200" b="1">
                <a:solidFill>
                  <a:srgbClr val="DC469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2EB61E-5BCF-DDA7-47E9-9600E15C6B83}"/>
              </a:ext>
            </a:extLst>
          </p:cNvPr>
          <p:cNvSpPr txBox="1"/>
          <p:nvPr/>
        </p:nvSpPr>
        <p:spPr>
          <a:xfrm>
            <a:off x="6007607" y="4713356"/>
            <a:ext cx="187452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2D2830"/>
                </a:solidFill>
                <a:latin typeface="Aptos"/>
              </a:defRPr>
            </a:pPr>
            <a:r>
              <a:t>Analyze with AI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53593A-915D-AC84-A788-9D40BD3041AC}"/>
              </a:ext>
            </a:extLst>
          </p:cNvPr>
          <p:cNvSpPr txBox="1"/>
          <p:nvPr/>
        </p:nvSpPr>
        <p:spPr>
          <a:xfrm>
            <a:off x="5852160" y="5269960"/>
            <a:ext cx="18745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646067"/>
                </a:solidFill>
                <a:latin typeface="Aptos"/>
              </a:defRPr>
            </a:pPr>
            <a:r>
              <a:t>Detect disease or weeds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ABB7DE-26F7-AFA3-00BE-4B3694D0092A}"/>
              </a:ext>
            </a:extLst>
          </p:cNvPr>
          <p:cNvSpPr txBox="1"/>
          <p:nvPr/>
        </p:nvSpPr>
        <p:spPr>
          <a:xfrm>
            <a:off x="7882127" y="4785328"/>
            <a:ext cx="365759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400" b="1">
                <a:solidFill>
                  <a:srgbClr val="DC46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3" name="Rounded Rectangle 20">
            <a:extLst>
              <a:ext uri="{FF2B5EF4-FFF2-40B4-BE49-F238E27FC236}">
                <a16:creationId xmlns:a16="http://schemas.microsoft.com/office/drawing/2014/main" id="{161749B7-546F-C4FA-DF67-F76718B803C5}"/>
              </a:ext>
            </a:extLst>
          </p:cNvPr>
          <p:cNvSpPr/>
          <p:nvPr/>
        </p:nvSpPr>
        <p:spPr>
          <a:xfrm>
            <a:off x="8183880" y="4282408"/>
            <a:ext cx="2148840" cy="1554480"/>
          </a:xfrm>
          <a:prstGeom prst="roundRect">
            <a:avLst/>
          </a:prstGeom>
          <a:solidFill>
            <a:srgbClr val="FADCED"/>
          </a:solidFill>
          <a:ln>
            <a:solidFill>
              <a:srgbClr val="DC4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C082FE-156D-42F0-FFA9-D748620A7D0D}"/>
              </a:ext>
            </a:extLst>
          </p:cNvPr>
          <p:cNvSpPr txBox="1"/>
          <p:nvPr/>
        </p:nvSpPr>
        <p:spPr>
          <a:xfrm>
            <a:off x="8321040" y="4392136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200" b="1">
                <a:solidFill>
                  <a:srgbClr val="DC469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E1C2F8-27CB-49FB-9557-7F320B9C9D74}"/>
              </a:ext>
            </a:extLst>
          </p:cNvPr>
          <p:cNvSpPr txBox="1"/>
          <p:nvPr/>
        </p:nvSpPr>
        <p:spPr>
          <a:xfrm>
            <a:off x="8321040" y="4812760"/>
            <a:ext cx="187452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2D2830"/>
                </a:solidFill>
                <a:latin typeface="Aptos"/>
              </a:defRPr>
            </a:pPr>
            <a:r>
              <a:t>Show Result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CA73E5-57BD-1D17-6FA8-F7A9AB5C3927}"/>
              </a:ext>
            </a:extLst>
          </p:cNvPr>
          <p:cNvSpPr txBox="1"/>
          <p:nvPr/>
        </p:nvSpPr>
        <p:spPr>
          <a:xfrm>
            <a:off x="8321040" y="5269960"/>
            <a:ext cx="18745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646067"/>
                </a:solidFill>
                <a:latin typeface="Aptos"/>
              </a:defRPr>
            </a:pPr>
            <a:r>
              <a:t>Alert or recommendation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76501E34-5D5D-C5A4-2906-3489AB494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25" y="1479326"/>
            <a:ext cx="9429135" cy="275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91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48EB-71C3-E6CB-884A-2EFC955FD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90857-3F79-ACD2-7E9A-F0CA3B85B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8969"/>
            <a:ext cx="9764524" cy="4222394"/>
          </a:xfrm>
        </p:spPr>
        <p:txBody>
          <a:bodyPr>
            <a:norm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disease detection can help reduce crop damage.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by checking many plants or large fields quickly.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identify weeds and support targeted weed control.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monitor crop growth and estimate fruit or plant counts.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data-based decisions and more efficient use of resources.</a:t>
            </a:r>
          </a:p>
        </p:txBody>
      </p:sp>
    </p:spTree>
    <p:extLst>
      <p:ext uri="{BB962C8B-B14F-4D97-AF65-F5344CB8AC3E}">
        <p14:creationId xmlns:p14="http://schemas.microsoft.com/office/powerpoint/2010/main" val="3702752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30F8-6B20-276C-1CC0-C74B55D7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30AEA-1711-7067-F289-9E5029FC8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8732137" cy="4368030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 detection: recognizes visible symptoms on leaves.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Weed detection: distinguishes weeds from crops for targeted spraying.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 counting: estimates the number of fruits before harvesting.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monitoring: observes growth, color, and signs of stress.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and satellite imaging: helps inspect large farms and identify problem areas.</a:t>
            </a:r>
          </a:p>
        </p:txBody>
      </p:sp>
    </p:spTree>
    <p:extLst>
      <p:ext uri="{BB962C8B-B14F-4D97-AF65-F5344CB8AC3E}">
        <p14:creationId xmlns:p14="http://schemas.microsoft.com/office/powerpoint/2010/main" val="350379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6FF19-560D-401E-C8C7-95DD6E4E3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60" y="540774"/>
            <a:ext cx="8596668" cy="13208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311EF-486F-4B9E-C30C-CF3560BCE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379" y="1767298"/>
            <a:ext cx="7591596" cy="4348366"/>
          </a:xfrm>
        </p:spPr>
        <p:txBody>
          <a:bodyPr>
            <a:normAutofit lnSpcReduction="10000"/>
          </a:bodyPr>
          <a:lstStyle/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 AI models for different crops and local conditions.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apps that provide quick crop health checks.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Robots and drones that monitor fields with less manual work.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computer vision with sensors and weather data.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farming that reduces waste and supports sustainable agriculture.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2A32C5-B170-DC04-2496-63F782DAD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227" y="1783669"/>
            <a:ext cx="4008322" cy="329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60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480E-06CD-D081-FAD9-92B77EA1C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747" y="491613"/>
            <a:ext cx="8596668" cy="13208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CF15F-AF03-12B9-442F-B31E3CC96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7" y="1543665"/>
            <a:ext cx="9153831" cy="5314335"/>
          </a:xfrm>
        </p:spPr>
        <p:txBody>
          <a:bodyPr>
            <a:norm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helps computers understand crop images.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detect diseases, identify weeds, count fruits, and monitor growth.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save time and help farmers make better decisions.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quality, cost, and model accuracy remain important challenges.</a:t>
            </a:r>
          </a:p>
          <a:p>
            <a:pPr>
              <a:spcAft>
                <a:spcPts val="1500"/>
              </a:spcAft>
              <a:defRPr sz="2100">
                <a:solidFill>
                  <a:srgbClr val="2D2830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continued improvement, it can play a valuable role in smart farming.</a:t>
            </a: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034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EC883-8B54-F9C6-6A39-ADED2087B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560" y="3018503"/>
            <a:ext cx="8596668" cy="1320800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15220-5155-2D57-2CD3-5FC507D53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69" y="2140924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4511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149</TotalTime>
  <Words>355</Words>
  <Application>Microsoft Office PowerPoint</Application>
  <PresentationFormat>Widescreen</PresentationFormat>
  <Paragraphs>57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Times New Roman</vt:lpstr>
      <vt:lpstr>Trebuchet MS</vt:lpstr>
      <vt:lpstr>Wingdings 3</vt:lpstr>
      <vt:lpstr>Facet</vt:lpstr>
      <vt:lpstr>  ITA0521-Computer Vision</vt:lpstr>
      <vt:lpstr>INTRODUCTION</vt:lpstr>
      <vt:lpstr>HOW DOES IT WORK? </vt:lpstr>
      <vt:lpstr>ADVANTAGES</vt:lpstr>
      <vt:lpstr>REAL-WORLD APPLICATIONS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𝐌𝐚𝐫𝐤𝐚𝐬 .</dc:creator>
  <cp:lastModifiedBy>Moorthy C</cp:lastModifiedBy>
  <cp:revision>4</cp:revision>
  <dcterms:created xsi:type="dcterms:W3CDTF">2026-07-21T18:04:07Z</dcterms:created>
  <dcterms:modified xsi:type="dcterms:W3CDTF">2026-10-21T08:20:51Z</dcterms:modified>
</cp:coreProperties>
</file>